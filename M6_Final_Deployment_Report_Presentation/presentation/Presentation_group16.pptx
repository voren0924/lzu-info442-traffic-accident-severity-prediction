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6491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【约30秒】开场说明：本项目是交通事故严重程度预测，答辩重点是最终部署和演示，而不是只展示训练结果。
核心句：我们把训练好的模型变成一个可交互、可解释的本地原型，用户能输入事故条件并看到预测和概率。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【约25秒】这页作为正式目录。把听众预期建立起来：问题、数据、EDA、模型架构与选择、模型表现、部署、限制。</a:t>
            </a:r>
          </a:p>
          <a:p>
            <a:r>
              <a:t>这套结构更像正式答辩，不像按作业阶段编号逐项汇报。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【约40秒】先把问题定义清楚。我们不是预测事故是否发生，而是在事故上下文已知时估计伤害严重程度。
输入包括交通控制、天气、光照、碰撞类型、路面情况、是否在路口、车辆数量和时间信息。
输出整理成三个类别：无伤、轻伤、重伤。界面不只给类别，还给概率，这对解释不确定性很重要。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【约45秒】这一页讲数据和预处理。部署中最容易出错的一点，是训练时的处理方式和预测时不一致。
所以我们让后端读取保存好的预处理元数据，包括类别映射、数值范围、缺失填充值和标签。
底部是一次预测的处理流程：文本标准化、缺失处理、范围验证、时间特征构造、缩放和编码，最后进入训练好的模型。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【约50秒】EDA 的作用是解释为什么这个建模问题并不简单。
第一张图显示车辆数量高度集中在两辆车；第二张图显示不同天气下受伤或拖车比例不同；第三张图说明车辆数量和天气条件之间还有交互。
这些发现说明模型不能只依赖一个简单规则，也不能只看准确率。因为严重伤害样本很少，准确率可能掩盖少数类表现。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【约60秒】这里是模型表现页，是内容上最关键的一页之一。
左边对比显示 FT-Transformer 整体表现最好，准确率约 0.725，balanced accuracy 和 macro F1 略高于其他模型。
但中间和右边说明了更重要的问题：严重类表现仍然弱，F1 大约 0.206，召回大约 0.232。
所以我们不能把它包装成急救分诊系统。它更适合作为课堂原型和风险提示工具。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【约45秒】这一页讲系统流程。前端表单提交事故上下文到本地服务器，服务器提供三个接口：状态、输入 schema 和预测。
后端先用保存的预处理元数据处理输入，再把特征送入训练好的模型，返回类别、置信度和概率分布。
这里还可以顺带讲实时默认值：小时、星期、月份来自浏览器时间，天气可以来自外部天气服务；但用户能手动改，系统不会强制覆盖。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【约50秒】这页展示真正的部署界面。讲的时候按三块区域走：左侧实时上下文，中间事故表单，右侧预测结果。
如果现场可以演示，我会按右边的五步做：确认状态、低风险样例、预测、高风险样例、展示 JSON。
这页的重点是说明：系统不是静态截图，而是可以运行的本地原型。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【约55秒】这里把鲁棒性和限制合并讲，避免页数过多。
系统考虑了本地课堂演示可能失败的情况：模型文件、包或接口异常时，可以切换到明确标记的 demo fallback。重点是透明，不把启发式输出说成真实模型。
限制方面，最重要的是它不是生产系统：没有认证、数据库、日志和正式部署安全措施；模型对严重伤害类别也不够强。
因此最终定位是决策支持原型和课程展示，不是急救分诊或安全关键自动决策系统。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【约45秒】最后总结：我们的贡献不是单个分数，而是把完整流程做成了能运行、能解释、能演示的原型。
它能输入场景、调用后端、输出概率、展示 EDA，也主动说明限制。
下一步是提升严重类识别、校准概率、做阈值分析，并升级到更完整的部署环境。
结束语：Thank you. We are ready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61E9DF"/>
          </a:solidFill>
          <a:ln w="12700">
            <a:solidFill>
              <a:srgbClr val="61E9D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85800" y="5486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1E9DF"/>
                </a:solidFill>
              </a:rPr>
              <a:t>TRAFFIC ACCIDENT SEVERITY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6492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EEF5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Traffic Accident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EEF5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Severity Prediction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13232" y="2816351"/>
            <a:ext cx="6629400" cy="23059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AAB8CF"/>
                </a:solidFill>
              </a:rPr>
              <a:t>Final deployment presentation · Local web app demo · INFO 442 Data Science Project</a:t>
            </a:r>
          </a:p>
          <a:p>
            <a:r>
              <a:rPr lang="en-US" altLang="zh-CN" sz="1460" dirty="0">
                <a:solidFill>
                  <a:srgbClr val="AAB8CF"/>
                </a:solidFill>
              </a:rPr>
              <a:t>Team 16</a:t>
            </a:r>
            <a:endParaRPr lang="en-US" sz="1460" dirty="0">
              <a:solidFill>
                <a:srgbClr val="AAB8CF"/>
              </a:solidFill>
            </a:endParaRPr>
          </a:p>
          <a:p>
            <a:r>
              <a:rPr lang="en-US" altLang="zh-CN" sz="1460" dirty="0">
                <a:solidFill>
                  <a:srgbClr val="AAB8CF"/>
                </a:solidFill>
              </a:rPr>
              <a:t>Team Members</a:t>
            </a:r>
          </a:p>
          <a:p>
            <a:r>
              <a:rPr lang="en-US" altLang="zh-CN" sz="1460" dirty="0" err="1">
                <a:solidFill>
                  <a:srgbClr val="AAB8CF"/>
                </a:solidFill>
              </a:rPr>
              <a:t>Haoye</a:t>
            </a:r>
            <a:r>
              <a:rPr lang="en-US" altLang="zh-CN" sz="1460" dirty="0">
                <a:solidFill>
                  <a:srgbClr val="AAB8CF"/>
                </a:solidFill>
              </a:rPr>
              <a:t> Chen · 320230941721</a:t>
            </a:r>
            <a:br>
              <a:rPr lang="en-US" altLang="zh-CN" sz="1460" dirty="0">
                <a:solidFill>
                  <a:srgbClr val="AAB8CF"/>
                </a:solidFill>
              </a:rPr>
            </a:br>
            <a:r>
              <a:rPr lang="en-US" altLang="zh-CN" sz="1460" dirty="0" err="1">
                <a:solidFill>
                  <a:srgbClr val="AAB8CF"/>
                </a:solidFill>
              </a:rPr>
              <a:t>Fangzhou</a:t>
            </a:r>
            <a:r>
              <a:rPr lang="en-US" altLang="zh-CN" sz="1460" dirty="0">
                <a:solidFill>
                  <a:srgbClr val="AAB8CF"/>
                </a:solidFill>
              </a:rPr>
              <a:t> Liu · 320230942161</a:t>
            </a:r>
            <a:br>
              <a:rPr lang="en-US" altLang="zh-CN" sz="1460" dirty="0">
                <a:solidFill>
                  <a:srgbClr val="AAB8CF"/>
                </a:solidFill>
              </a:rPr>
            </a:br>
            <a:r>
              <a:rPr lang="en-US" altLang="zh-CN" sz="1460" dirty="0" err="1">
                <a:solidFill>
                  <a:srgbClr val="AAB8CF"/>
                </a:solidFill>
              </a:rPr>
              <a:t>Xiuru</a:t>
            </a:r>
            <a:r>
              <a:rPr lang="en-US" altLang="zh-CN" sz="1460" dirty="0">
                <a:solidFill>
                  <a:srgbClr val="AAB8CF"/>
                </a:solidFill>
              </a:rPr>
              <a:t> Li · 320230942091</a:t>
            </a:r>
            <a:br>
              <a:rPr lang="en-US" altLang="zh-CN" sz="1460" dirty="0">
                <a:solidFill>
                  <a:srgbClr val="AAB8CF"/>
                </a:solidFill>
              </a:rPr>
            </a:br>
            <a:r>
              <a:rPr lang="en-US" altLang="zh-CN" sz="1460" dirty="0" err="1">
                <a:solidFill>
                  <a:srgbClr val="AAB8CF"/>
                </a:solidFill>
              </a:rPr>
              <a:t>Shaoyi</a:t>
            </a:r>
            <a:r>
              <a:rPr lang="en-US" altLang="zh-CN" sz="1460" dirty="0">
                <a:solidFill>
                  <a:srgbClr val="AAB8CF"/>
                </a:solidFill>
              </a:rPr>
              <a:t> </a:t>
            </a:r>
            <a:r>
              <a:rPr lang="en-US" altLang="zh-CN" sz="1460" dirty="0" err="1">
                <a:solidFill>
                  <a:srgbClr val="AAB8CF"/>
                </a:solidFill>
              </a:rPr>
              <a:t>Zong</a:t>
            </a:r>
            <a:r>
              <a:rPr lang="en-US" altLang="zh-CN" sz="1460" dirty="0">
                <a:solidFill>
                  <a:srgbClr val="AAB8CF"/>
                </a:solidFill>
              </a:rPr>
              <a:t> · 320230942831</a:t>
            </a:r>
            <a:br>
              <a:rPr lang="en-US" altLang="zh-CN" sz="1460" dirty="0">
                <a:solidFill>
                  <a:srgbClr val="AAB8CF"/>
                </a:solidFill>
              </a:rPr>
            </a:br>
            <a:r>
              <a:rPr lang="en-US" altLang="zh-CN" sz="1460" dirty="0" err="1">
                <a:solidFill>
                  <a:srgbClr val="AAB8CF"/>
                </a:solidFill>
              </a:rPr>
              <a:t>Yukun</a:t>
            </a:r>
            <a:r>
              <a:rPr lang="en-US" altLang="zh-CN" sz="1460" dirty="0">
                <a:solidFill>
                  <a:srgbClr val="AAB8CF"/>
                </a:solidFill>
              </a:rPr>
              <a:t> </a:t>
            </a:r>
            <a:r>
              <a:rPr lang="en-US" altLang="zh-CN" sz="1460" dirty="0" err="1">
                <a:solidFill>
                  <a:srgbClr val="AAB8CF"/>
                </a:solidFill>
              </a:rPr>
              <a:t>Su</a:t>
            </a:r>
            <a:r>
              <a:rPr lang="en-US" altLang="zh-CN" sz="1460" dirty="0">
                <a:solidFill>
                  <a:srgbClr val="AAB8CF"/>
                </a:solidFill>
              </a:rPr>
              <a:t> · 320230942311</a:t>
            </a:r>
          </a:p>
          <a:p>
            <a:pPr marL="0" indent="0">
              <a:buNone/>
            </a:pPr>
            <a:endParaRPr lang="en-US" sz="1460" dirty="0">
              <a:solidFill>
                <a:srgbClr val="AAB8CF"/>
              </a:solidFill>
            </a:endParaRPr>
          </a:p>
          <a:p>
            <a:pPr marL="0" indent="0">
              <a:buNone/>
            </a:pPr>
            <a:endParaRPr lang="en-US" sz="1460" dirty="0"/>
          </a:p>
        </p:txBody>
      </p:sp>
      <p:sp>
        <p:nvSpPr>
          <p:cNvPr id="12" name="Text 9"/>
          <p:cNvSpPr/>
          <p:nvPr/>
        </p:nvSpPr>
        <p:spPr>
          <a:xfrm>
            <a:off x="502920" y="6547104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78AA6"/>
                </a:solidFill>
              </a:rPr>
              <a:t>INFO 442 · Traffic Accident Severity Prediction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10881360" y="64739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850" b="1">
                <a:solidFill>
                  <a:srgbClr val="61E9DF"/>
                </a:solidFill>
              </a:rPr>
              <a:t>01 / 11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61E9DF"/>
          </a:solidFill>
          <a:ln w="12700">
            <a:solidFill>
              <a:srgbClr val="61E9D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85800" y="3931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61E9DF"/>
                </a:solidFill>
              </a:rPr>
              <a:t>AGENDA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685800" y="7040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EEF5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presentation covers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68680" y="16184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50" b="1">
                <a:solidFill>
                  <a:srgbClr val="61E9DF"/>
                </a:solidFill>
              </a:rPr>
              <a:t>01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527048" y="1600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sz="1850" b="1">
                <a:solidFill>
                  <a:srgbClr val="EEF5FF"/>
                </a:solidFill>
              </a:rPr>
              <a:t>Problem &amp; goal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527048" y="1965960"/>
            <a:ext cx="3749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30" b="0">
                <a:solidFill>
                  <a:srgbClr val="AAB8CF"/>
                </a:solidFill>
              </a:rPr>
              <a:t>What decision the model is trying to support.</a:t>
            </a:r>
            <a:endParaRPr lang="en-US" sz="1060" dirty="0"/>
          </a:p>
        </p:txBody>
      </p:sp>
      <p:sp>
        <p:nvSpPr>
          <p:cNvPr id="10" name="Text 8"/>
          <p:cNvSpPr/>
          <p:nvPr/>
        </p:nvSpPr>
        <p:spPr>
          <a:xfrm>
            <a:off x="868680" y="246888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50" b="1">
                <a:solidFill>
                  <a:srgbClr val="61E9DF"/>
                </a:solidFill>
              </a:rPr>
              <a:t>02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527048" y="2450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sz="1850" b="1">
                <a:solidFill>
                  <a:srgbClr val="EEF5FF"/>
                </a:solidFill>
              </a:rPr>
              <a:t>Data and preprocessing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527048" y="2816352"/>
            <a:ext cx="3749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30" b="0">
                <a:solidFill>
                  <a:srgbClr val="AAB8CF"/>
                </a:solidFill>
              </a:rPr>
              <a:t>How inputs are cleaned, encoded, and kept consistent.</a:t>
            </a:r>
            <a:endParaRPr lang="en-US" sz="1060" dirty="0"/>
          </a:p>
        </p:txBody>
      </p:sp>
      <p:sp>
        <p:nvSpPr>
          <p:cNvPr id="13" name="Text 11"/>
          <p:cNvSpPr/>
          <p:nvPr/>
        </p:nvSpPr>
        <p:spPr>
          <a:xfrm>
            <a:off x="868680" y="331927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50" b="1">
                <a:solidFill>
                  <a:srgbClr val="61E9DF"/>
                </a:solidFill>
              </a:rPr>
              <a:t>03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527048" y="33009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sz="1850" b="1">
                <a:solidFill>
                  <a:srgbClr val="EEF5FF"/>
                </a:solidFill>
              </a:rPr>
              <a:t>EDA findings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527048" y="3666744"/>
            <a:ext cx="3749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30" b="0">
                <a:solidFill>
                  <a:srgbClr val="AAB8CF"/>
                </a:solidFill>
              </a:rPr>
              <a:t>Why the task is imbalanced and context-dependent.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868680" y="4169663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50" b="1">
                <a:solidFill>
                  <a:srgbClr val="61E9DF"/>
                </a:solidFill>
              </a:rPr>
              <a:t>04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527048" y="41513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sz="1850" b="1">
                <a:solidFill>
                  <a:srgbClr val="EEF5FF"/>
                </a:solidFill>
              </a:rPr>
              <a:t>Model architecture &amp; selection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527048" y="4517136"/>
            <a:ext cx="3749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30" b="0">
                <a:solidFill>
                  <a:srgbClr val="AAB8CF"/>
                </a:solidFill>
              </a:rPr>
              <a:t>Why FT-Transformer was selected for deployment.</a:t>
            </a:r>
            <a:endParaRPr lang="en-US" sz="1060" dirty="0"/>
          </a:p>
        </p:txBody>
      </p:sp>
      <p:sp>
        <p:nvSpPr>
          <p:cNvPr id="19" name="Text 17"/>
          <p:cNvSpPr/>
          <p:nvPr/>
        </p:nvSpPr>
        <p:spPr>
          <a:xfrm>
            <a:off x="5989320" y="161848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50" b="1">
                <a:solidFill>
                  <a:srgbClr val="61E9DF"/>
                </a:solidFill>
              </a:rPr>
              <a:t>05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47688" y="1600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sz="1850" b="1">
                <a:solidFill>
                  <a:srgbClr val="EEF5FF"/>
                </a:solidFill>
              </a:rPr>
              <a:t>Model performance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647688" y="1965960"/>
            <a:ext cx="3749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30" b="0">
                <a:solidFill>
                  <a:srgbClr val="AAB8CF"/>
                </a:solidFill>
              </a:rPr>
              <a:t>What the trained model can and cannot detect.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5989320" y="267919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50" b="1">
                <a:solidFill>
                  <a:srgbClr val="61E9DF"/>
                </a:solidFill>
              </a:rPr>
              <a:t>06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647688" y="26609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sz="1850" b="1">
                <a:solidFill>
                  <a:srgbClr val="EEF5FF"/>
                </a:solidFill>
              </a:rPr>
              <a:t>Deployment workflow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647688" y="3026664"/>
            <a:ext cx="37490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30" b="0">
                <a:solidFill>
                  <a:srgbClr val="AAB8CF"/>
                </a:solidFill>
              </a:rPr>
              <a:t>How the web app, API, and saved metadata work together.</a:t>
            </a:r>
            <a:endParaRPr lang="en-US" sz="1060" dirty="0"/>
          </a:p>
        </p:txBody>
      </p:sp>
      <p:sp>
        <p:nvSpPr>
          <p:cNvPr id="28" name="Text 26"/>
          <p:cNvSpPr/>
          <p:nvPr/>
        </p:nvSpPr>
        <p:spPr>
          <a:xfrm>
            <a:off x="502920" y="6547104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78AA6"/>
                </a:solidFill>
              </a:rPr>
              <a:t>INFO 442 · Traffic Accident Severity Prediction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10881360" y="64739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850" b="1">
                <a:solidFill>
                  <a:srgbClr val="61E9DF"/>
                </a:solidFill>
              </a:rPr>
              <a:t>02 / 11</a:t>
            </a:r>
            <a:endParaRPr lang="en-US" sz="850" dirty="0"/>
          </a:p>
        </p:txBody>
      </p:sp>
      <p:sp>
        <p:nvSpPr>
          <p:cNvPr id="30" name="TextBox 29"/>
          <p:cNvSpPr txBox="1"/>
          <p:nvPr/>
        </p:nvSpPr>
        <p:spPr>
          <a:xfrm>
            <a:off x="5989320" y="3739896"/>
            <a:ext cx="475488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50" b="1">
                <a:solidFill>
                  <a:srgbClr val="61E9DF"/>
                </a:solidFill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7688" y="3721608"/>
            <a:ext cx="36576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50" b="1">
                <a:solidFill>
                  <a:srgbClr val="EEF5FF"/>
                </a:solidFill>
              </a:rPr>
              <a:t>Limitations and next steps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47688" y="4087368"/>
            <a:ext cx="3749039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30" b="0">
                <a:solidFill>
                  <a:srgbClr val="AAB8CF"/>
                </a:solidFill>
              </a:rPr>
              <a:t>Where the prototype should not be overclaimed.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61E9DF"/>
          </a:solidFill>
          <a:ln w="12700">
            <a:solidFill>
              <a:srgbClr val="61E9D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85800" y="3931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61E9DF"/>
                </a:solidFill>
              </a:rPr>
              <a:t>PROBLEM &amp; GOAL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685800" y="7040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EEF5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 injury severity from crash context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13232" y="13075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AAB8CF"/>
                </a:solidFill>
              </a:rPr>
              <a:t>The system estimates a severity class and shows uncertainty through class probabilities.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777240" y="1901952"/>
            <a:ext cx="3154680" cy="3246120"/>
          </a:xfrm>
          <a:prstGeom prst="roundRect">
            <a:avLst>
              <a:gd name="adj" fmla="val 2319"/>
            </a:avLst>
          </a:prstGeom>
          <a:solidFill>
            <a:srgbClr val="12233A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78992" y="22402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1E9DF"/>
                </a:solidFill>
              </a:rPr>
              <a:t>Inputs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7432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1E9DF"/>
                </a:solidFill>
              </a:rPr>
              <a:t>•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344168" y="27249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D9E5F6"/>
                </a:solidFill>
              </a:rPr>
              <a:t>traffic control, lighting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097280" y="31363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1E9DF"/>
                </a:solidFill>
              </a:rPr>
              <a:t>•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344168" y="311810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D9E5F6"/>
                </a:solidFill>
              </a:rPr>
              <a:t>weather and road surface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1097280" y="352958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1E9DF"/>
                </a:solidFill>
              </a:rPr>
              <a:t>•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344168" y="351129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D9E5F6"/>
                </a:solidFill>
              </a:rPr>
              <a:t>first crash type and cause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1097280" y="39227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1E9DF"/>
                </a:solidFill>
              </a:rPr>
              <a:t>•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344168" y="39044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D9E5F6"/>
                </a:solidFill>
              </a:rPr>
              <a:t>intersection and unit count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1097280" y="43159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1E9DF"/>
                </a:solidFill>
              </a:rPr>
              <a:t>•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44168" y="42976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D9E5F6"/>
                </a:solidFill>
              </a:rPr>
              <a:t>hour, day, and month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4343400" y="1901952"/>
            <a:ext cx="3108960" cy="3246120"/>
          </a:xfrm>
          <a:prstGeom prst="roundRect">
            <a:avLst>
              <a:gd name="adj" fmla="val 2353"/>
            </a:avLst>
          </a:prstGeom>
          <a:solidFill>
            <a:srgbClr val="12233A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645152" y="22402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1E9DF"/>
                </a:solidFill>
              </a:rPr>
              <a:t>Prediction task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45152" y="2788920"/>
            <a:ext cx="24231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EEF5FF"/>
                </a:solidFill>
              </a:rPr>
              <a:t>Given observed crash conditions, which injury severity class is most likely?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645152" y="3794760"/>
            <a:ext cx="2395728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AAB8CF"/>
                </a:solidFill>
              </a:rPr>
              <a:t>The deployment returns a label, a confidence value, and class probabilities for transparent interpretation.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7863840" y="1901952"/>
            <a:ext cx="3337560" cy="3246120"/>
          </a:xfrm>
          <a:prstGeom prst="roundRect">
            <a:avLst>
              <a:gd name="adj" fmla="val 2254"/>
            </a:avLst>
          </a:prstGeom>
          <a:solidFill>
            <a:srgbClr val="12233A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183880" y="22402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1E9DF"/>
                </a:solidFill>
              </a:rPr>
              <a:t>Output classes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183880" y="277977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EF5FF"/>
                </a:solidFill>
              </a:rPr>
              <a:t>NO_INJURY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8183880" y="3054096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AAB8CF"/>
                </a:solidFill>
              </a:rPr>
              <a:t>No indication of injury</a:t>
            </a:r>
            <a:endParaRPr lang="en-US" sz="940" dirty="0"/>
          </a:p>
        </p:txBody>
      </p:sp>
      <p:sp>
        <p:nvSpPr>
          <p:cNvPr id="27" name="Text 25"/>
          <p:cNvSpPr/>
          <p:nvPr/>
        </p:nvSpPr>
        <p:spPr>
          <a:xfrm>
            <a:off x="8183880" y="343814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EF5FF"/>
                </a:solidFill>
              </a:rPr>
              <a:t>MINOR_INJURY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8183880" y="3712464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AAB8CF"/>
                </a:solidFill>
              </a:rPr>
              <a:t>Reported or non-incapacitating injury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8183880" y="409651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FFB15E"/>
                </a:solidFill>
              </a:rPr>
              <a:t>SEVERE_INJURY</a:t>
            </a:r>
            <a:endParaRPr lang="en-US" sz="1220" dirty="0"/>
          </a:p>
        </p:txBody>
      </p:sp>
      <p:sp>
        <p:nvSpPr>
          <p:cNvPr id="30" name="Text 28"/>
          <p:cNvSpPr/>
          <p:nvPr/>
        </p:nvSpPr>
        <p:spPr>
          <a:xfrm>
            <a:off x="8183880" y="4370832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AAB8CF"/>
                </a:solidFill>
              </a:rPr>
              <a:t>Incapacitating or fatal injury</a:t>
            </a:r>
            <a:endParaRPr lang="en-US" sz="940" dirty="0"/>
          </a:p>
        </p:txBody>
      </p:sp>
      <p:sp>
        <p:nvSpPr>
          <p:cNvPr id="31" name="Text 29"/>
          <p:cNvSpPr/>
          <p:nvPr/>
        </p:nvSpPr>
        <p:spPr>
          <a:xfrm>
            <a:off x="502920" y="6547104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78AA6"/>
                </a:solidFill>
              </a:rPr>
              <a:t>INFO 442 · Traffic Accident Severity Prediction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10881360" y="64739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850" b="1">
                <a:solidFill>
                  <a:srgbClr val="61E9DF"/>
                </a:solidFill>
              </a:rPr>
              <a:t>03 / 11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61E9DF"/>
          </a:solidFill>
          <a:ln w="12700">
            <a:solidFill>
              <a:srgbClr val="61E9D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85800" y="3931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61E9DF"/>
                </a:solidFill>
              </a:rPr>
              <a:t>DATA AND PREPROCESSING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685800" y="7040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EEF5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 prediction inputs consistent with training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13232" y="13075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AAB8CF"/>
                </a:solidFill>
              </a:rPr>
              <a:t>The backend uses saved preprocessing metadata so the web form and the trained model remain aligned.</a:t>
            </a:r>
            <a:endParaRPr lang="en-US" sz="1260" dirty="0"/>
          </a:p>
        </p:txBody>
      </p:sp>
      <p:sp>
        <p:nvSpPr>
          <p:cNvPr id="7" name="Text 5"/>
          <p:cNvSpPr/>
          <p:nvPr/>
        </p:nvSpPr>
        <p:spPr>
          <a:xfrm>
            <a:off x="822960" y="194767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1E9D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209k+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25420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AB8CF"/>
                </a:solidFill>
              </a:rPr>
              <a:t>records shown in app summary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0" y="1947672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BA9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43200" y="25420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AB8CF"/>
                </a:solidFill>
              </a:rPr>
              <a:t>columns after final cleaning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0" y="1947672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B1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389120" y="25420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AAB8CF"/>
                </a:solidFill>
              </a:rPr>
              <a:t>prediction labels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965960" y="4133088"/>
            <a:ext cx="384048" cy="0"/>
          </a:xfrm>
          <a:prstGeom prst="line">
            <a:avLst/>
          </a:prstGeom>
          <a:noFill/>
          <a:ln w="19050">
            <a:solidFill>
              <a:srgbClr val="5BA9F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621024" y="4133088"/>
            <a:ext cx="384048" cy="0"/>
          </a:xfrm>
          <a:prstGeom prst="line">
            <a:avLst/>
          </a:prstGeom>
          <a:noFill/>
          <a:ln w="19050">
            <a:solidFill>
              <a:srgbClr val="5BA9F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276088" y="4133088"/>
            <a:ext cx="384048" cy="0"/>
          </a:xfrm>
          <a:prstGeom prst="line">
            <a:avLst/>
          </a:prstGeom>
          <a:noFill/>
          <a:ln w="19050">
            <a:solidFill>
              <a:srgbClr val="5BA9F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931152" y="4133088"/>
            <a:ext cx="384048" cy="0"/>
          </a:xfrm>
          <a:prstGeom prst="line">
            <a:avLst/>
          </a:prstGeom>
          <a:noFill/>
          <a:ln w="19050">
            <a:solidFill>
              <a:srgbClr val="5BA9F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586216" y="4133088"/>
            <a:ext cx="384048" cy="0"/>
          </a:xfrm>
          <a:prstGeom prst="line">
            <a:avLst/>
          </a:prstGeom>
          <a:noFill/>
          <a:ln w="19050">
            <a:solidFill>
              <a:srgbClr val="5BA9F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68680" y="3675888"/>
            <a:ext cx="1115568" cy="896112"/>
          </a:xfrm>
          <a:prstGeom prst="roundRect">
            <a:avLst>
              <a:gd name="adj" fmla="val 8163"/>
            </a:avLst>
          </a:prstGeom>
          <a:solidFill>
            <a:srgbClr val="13243B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960120" y="3959352"/>
            <a:ext cx="932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EEF5FF"/>
                </a:solidFill>
              </a:rPr>
              <a:t>Normalize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2523744" y="3675888"/>
            <a:ext cx="1115568" cy="896112"/>
          </a:xfrm>
          <a:prstGeom prst="roundRect">
            <a:avLst>
              <a:gd name="adj" fmla="val 8163"/>
            </a:avLst>
          </a:prstGeom>
          <a:solidFill>
            <a:srgbClr val="13243B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2615184" y="3959352"/>
            <a:ext cx="932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EEF5FF"/>
                </a:solidFill>
              </a:rPr>
              <a:t>Fill missing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4178808" y="3675888"/>
            <a:ext cx="1115568" cy="896112"/>
          </a:xfrm>
          <a:prstGeom prst="roundRect">
            <a:avLst>
              <a:gd name="adj" fmla="val 8163"/>
            </a:avLst>
          </a:prstGeom>
          <a:solidFill>
            <a:srgbClr val="13243B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270248" y="3959352"/>
            <a:ext cx="932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EEF5FF"/>
                </a:solidFill>
              </a:rPr>
              <a:t>Validate ranges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5833872" y="3675888"/>
            <a:ext cx="1115568" cy="896112"/>
          </a:xfrm>
          <a:prstGeom prst="roundRect">
            <a:avLst>
              <a:gd name="adj" fmla="val 8163"/>
            </a:avLst>
          </a:prstGeom>
          <a:solidFill>
            <a:srgbClr val="13243B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925312" y="3959352"/>
            <a:ext cx="932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EEF5FF"/>
                </a:solidFill>
              </a:rPr>
              <a:t>Engineer time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7488936" y="3675888"/>
            <a:ext cx="1115568" cy="896112"/>
          </a:xfrm>
          <a:prstGeom prst="roundRect">
            <a:avLst>
              <a:gd name="adj" fmla="val 8163"/>
            </a:avLst>
          </a:prstGeom>
          <a:solidFill>
            <a:srgbClr val="13243B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7580376" y="3959352"/>
            <a:ext cx="932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EEF5FF"/>
                </a:solidFill>
              </a:rPr>
              <a:t>Scale + encode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9144000" y="3675888"/>
            <a:ext cx="1115568" cy="896112"/>
          </a:xfrm>
          <a:prstGeom prst="roundRect">
            <a:avLst>
              <a:gd name="adj" fmla="val 8163"/>
            </a:avLst>
          </a:prstGeom>
          <a:solidFill>
            <a:srgbClr val="173055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9235440" y="3959352"/>
            <a:ext cx="932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EEF5FF"/>
                </a:solidFill>
              </a:rPr>
              <a:t>Predict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6537960" y="1828800"/>
            <a:ext cx="4434840" cy="1261872"/>
          </a:xfrm>
          <a:prstGeom prst="roundRect">
            <a:avLst>
              <a:gd name="adj" fmla="val 5797"/>
            </a:avLst>
          </a:prstGeom>
          <a:solidFill>
            <a:srgbClr val="102C43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858000" y="21762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1E9DF"/>
                </a:solidFill>
              </a:rPr>
              <a:t>Metadata-driven form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858000" y="251460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9E5F6"/>
                </a:solidFill>
              </a:rPr>
              <a:t>Categorical options, numeric ranges, target labels, and medians are read from saved files rather than copied by hand into the interface.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2920" y="6547104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78AA6"/>
                </a:solidFill>
              </a:rPr>
              <a:t>INFO 442 · Traffic Accident Severity Prediction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10881360" y="64739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850" b="1">
                <a:solidFill>
                  <a:srgbClr val="61E9DF"/>
                </a:solidFill>
              </a:rPr>
              <a:t>04 / 11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61E9DF"/>
          </a:solidFill>
          <a:ln w="12700">
            <a:solidFill>
              <a:srgbClr val="61E9D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85800" y="3931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61E9DF"/>
                </a:solidFill>
              </a:rPr>
              <a:t>EDA FINDINGS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685800" y="7040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EEF5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dataset is imbalanced and context-dependent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13232" y="13075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AAB8CF"/>
                </a:solidFill>
              </a:rPr>
              <a:t>These charts explain why balanced metrics and careful interpretation are necessary.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658368" y="1828800"/>
            <a:ext cx="3383280" cy="1847088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6350">
            <a:solidFill>
              <a:srgbClr val="C8D1DE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 descr="/mnt/data/figur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412" y="1901952"/>
            <a:ext cx="2775192" cy="17007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7307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AAB8CF"/>
                </a:solidFill>
              </a:rPr>
              <a:t>Vehicle count: two-unit crashes dominate.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4315968" y="1828800"/>
            <a:ext cx="3383280" cy="1847088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6350">
            <a:solidFill>
              <a:srgbClr val="C8D1DE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/mnt/data/figur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3844" y="1901952"/>
            <a:ext cx="3047527" cy="17007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34840" y="37307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AAB8CF"/>
                </a:solidFill>
              </a:rPr>
              <a:t>Rain and cloudy conditions show higher injury/tow rates.</a:t>
            </a:r>
            <a:endParaRPr lang="en-US" sz="860" dirty="0"/>
          </a:p>
        </p:txBody>
      </p:sp>
      <p:sp>
        <p:nvSpPr>
          <p:cNvPr id="13" name="Shape 9"/>
          <p:cNvSpPr/>
          <p:nvPr/>
        </p:nvSpPr>
        <p:spPr>
          <a:xfrm>
            <a:off x="7973568" y="1828800"/>
            <a:ext cx="3383280" cy="1847088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6350">
            <a:solidFill>
              <a:srgbClr val="C8D1DE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4" name="Image 2" descr="/mnt/data/figure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2042354"/>
            <a:ext cx="3236976" cy="141998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92440" y="37307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AAB8CF"/>
                </a:solidFill>
              </a:rPr>
              <a:t>Unit count interacts with weather context.</a:t>
            </a:r>
            <a:endParaRPr lang="en-US" sz="860" dirty="0"/>
          </a:p>
        </p:txBody>
      </p:sp>
      <p:sp>
        <p:nvSpPr>
          <p:cNvPr id="16" name="Shape 11"/>
          <p:cNvSpPr/>
          <p:nvPr/>
        </p:nvSpPr>
        <p:spPr>
          <a:xfrm>
            <a:off x="914400" y="4663440"/>
            <a:ext cx="9966960" cy="841248"/>
          </a:xfrm>
          <a:prstGeom prst="roundRect">
            <a:avLst>
              <a:gd name="adj" fmla="val 8696"/>
            </a:avLst>
          </a:prstGeom>
          <a:solidFill>
            <a:srgbClr val="102C43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2"/>
          <p:cNvSpPr/>
          <p:nvPr/>
        </p:nvSpPr>
        <p:spPr>
          <a:xfrm>
            <a:off x="1234440" y="49286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61E9DF"/>
                </a:solidFill>
              </a:rPr>
              <a:t>Interpretation</a:t>
            </a:r>
            <a:endParaRPr lang="en-US" sz="980" dirty="0"/>
          </a:p>
        </p:txBody>
      </p:sp>
      <p:sp>
        <p:nvSpPr>
          <p:cNvPr id="18" name="Text 13"/>
          <p:cNvSpPr/>
          <p:nvPr/>
        </p:nvSpPr>
        <p:spPr>
          <a:xfrm>
            <a:off x="2697480" y="485546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9E5F6"/>
                </a:solidFill>
              </a:rPr>
              <a:t>Most records are routine crashes, while severe outcomes are sparse. A useful model must be judged with balanced accuracy, macro F1, class-level recall, and probability behavior.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02920" y="6547104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78AA6"/>
                </a:solidFill>
              </a:rPr>
              <a:t>INFO 442 · Traffic Accident Severity Prediction</a:t>
            </a:r>
            <a:endParaRPr lang="en-US" sz="780" dirty="0"/>
          </a:p>
        </p:txBody>
      </p:sp>
      <p:sp>
        <p:nvSpPr>
          <p:cNvPr id="20" name="Text 15"/>
          <p:cNvSpPr/>
          <p:nvPr/>
        </p:nvSpPr>
        <p:spPr>
          <a:xfrm>
            <a:off x="10881360" y="64739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850" b="1">
                <a:solidFill>
                  <a:srgbClr val="61E9DF"/>
                </a:solidFill>
              </a:rPr>
              <a:t>05 / 11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61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69494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80" b="0">
                <a:solidFill>
                  <a:srgbClr val="778AA6"/>
                </a:solidFill>
              </a:rPr>
              <a:t>INFO 442 · Traffic Accident Severity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7772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61E9DF"/>
                </a:solidFill>
              </a:rPr>
              <a:t>06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3192"/>
            <a:ext cx="53035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40" b="1">
                <a:solidFill>
                  <a:srgbClr val="61E9DF"/>
                </a:solidFill>
              </a:rPr>
              <a:t>MODEL ARCHITECTURE &amp;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04088"/>
            <a:ext cx="960120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700" b="1">
                <a:solidFill>
                  <a:srgbClr val="EEF5FF"/>
                </a:solidFill>
                <a:latin typeface="Aptos Display"/>
              </a:rPr>
              <a:t>Compare candidates before reading the score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987552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60" b="0">
                <a:solidFill>
                  <a:srgbClr val="AAB8CF"/>
                </a:solidFill>
              </a:rPr>
              <a:t>The final deployment uses the validation Macro F1 winner, not the highest-accuracy shortcut.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50592" y="2788920"/>
            <a:ext cx="475488" cy="0"/>
          </a:xfrm>
          <a:prstGeom prst="line">
            <a:avLst/>
          </a:prstGeom>
          <a:ln w="17780">
            <a:solidFill>
              <a:srgbClr val="61E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85232" y="2788920"/>
            <a:ext cx="429768" cy="0"/>
          </a:xfrm>
          <a:prstGeom prst="line">
            <a:avLst/>
          </a:prstGeom>
          <a:ln w="17780">
            <a:solidFill>
              <a:srgbClr val="61E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348472" y="2788920"/>
            <a:ext cx="384048" cy="0"/>
          </a:xfrm>
          <a:prstGeom prst="line">
            <a:avLst/>
          </a:prstGeom>
          <a:ln w="17780">
            <a:solidFill>
              <a:srgbClr val="61E9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85800" y="1874519"/>
            <a:ext cx="1783080" cy="1874519"/>
          </a:xfrm>
          <a:prstGeom prst="roundRect">
            <a:avLst/>
          </a:prstGeom>
          <a:solidFill>
            <a:srgbClr val="13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130552"/>
            <a:ext cx="1417319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20" b="1">
                <a:solidFill>
                  <a:srgbClr val="EEF5FF"/>
                </a:solidFill>
              </a:rPr>
              <a:t>Crash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400" y="2624327"/>
            <a:ext cx="1635760" cy="4893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60" b="0" dirty="0">
                <a:solidFill>
                  <a:srgbClr val="AAB8CF"/>
                </a:solidFill>
              </a:rPr>
              <a:t>categorical context
+ numeric time / unit features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1874519"/>
            <a:ext cx="2331720" cy="1874519"/>
          </a:xfrm>
          <a:prstGeom prst="roundRect">
            <a:avLst/>
          </a:prstGeom>
          <a:solidFill>
            <a:srgbClr val="13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08960" y="2130552"/>
            <a:ext cx="196596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20" b="1">
                <a:solidFill>
                  <a:srgbClr val="EEF5FF"/>
                </a:solidFill>
              </a:rPr>
              <a:t>Model-specific encoding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624327"/>
            <a:ext cx="1965960" cy="9601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60" b="0">
                <a:solidFill>
                  <a:srgbClr val="AAB8CF"/>
                </a:solidFill>
              </a:rPr>
              <a:t>CatBoost: raw categories
XGBoost: one-hot features
FT: embeddings + numeric tokens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1874519"/>
            <a:ext cx="2651760" cy="1874519"/>
          </a:xfrm>
          <a:prstGeom prst="roundRect">
            <a:avLst/>
          </a:prstGeom>
          <a:solidFill>
            <a:srgbClr val="173055"/>
          </a:solidFill>
          <a:ln w="15240">
            <a:solidFill>
              <a:srgbClr val="61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97880" y="2130552"/>
            <a:ext cx="22860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20" b="1">
                <a:solidFill>
                  <a:srgbClr val="EEF5FF"/>
                </a:solidFill>
              </a:rPr>
              <a:t>Selected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2624327"/>
            <a:ext cx="2286000" cy="9601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60" b="0">
                <a:solidFill>
                  <a:srgbClr val="AAB8CF"/>
                </a:solidFill>
              </a:rPr>
              <a:t>FT-Transformer
64-d tokens · 8 heads
3 attention layers · dropout 0.15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1874519"/>
            <a:ext cx="1965960" cy="1874519"/>
          </a:xfrm>
          <a:prstGeom prst="roundRect">
            <a:avLst/>
          </a:prstGeom>
          <a:solidFill>
            <a:srgbClr val="13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15400" y="2130552"/>
            <a:ext cx="1600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20" b="1">
                <a:solidFill>
                  <a:srgbClr val="EEF5FF"/>
                </a:solidFill>
              </a:rPr>
              <a:t>Model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624327"/>
            <a:ext cx="1600200" cy="9601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60" b="0">
                <a:solidFill>
                  <a:srgbClr val="AAB8CF"/>
                </a:solidFill>
              </a:rPr>
              <a:t>NO_INJURY
MINOR_INJURY
SEVERE_INJURY probabilities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343400"/>
            <a:ext cx="4343400" cy="960120"/>
          </a:xfrm>
          <a:prstGeom prst="roundRect">
            <a:avLst/>
          </a:prstGeom>
          <a:solidFill>
            <a:srgbClr val="102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43000" y="4590288"/>
            <a:ext cx="1417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19" b="1">
                <a:solidFill>
                  <a:srgbClr val="61E9DF"/>
                </a:solidFill>
              </a:rPr>
              <a:t>Selection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25543" y="4489704"/>
            <a:ext cx="2651761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80" b="0" dirty="0">
                <a:solidFill>
                  <a:srgbClr val="EEF5FF"/>
                </a:solidFill>
              </a:rPr>
              <a:t>Validation Macro F1 was the primary criterion; FT-Transformer was selected after comparing </a:t>
            </a:r>
            <a:r>
              <a:rPr sz="1080" b="0" dirty="0" err="1">
                <a:solidFill>
                  <a:srgbClr val="EEF5FF"/>
                </a:solidFill>
              </a:rPr>
              <a:t>CatBoost</a:t>
            </a:r>
            <a:r>
              <a:rPr sz="1080" b="0" dirty="0">
                <a:solidFill>
                  <a:srgbClr val="EEF5FF"/>
                </a:solidFill>
              </a:rPr>
              <a:t> and </a:t>
            </a:r>
            <a:r>
              <a:rPr sz="1080" b="0" dirty="0" err="1">
                <a:solidFill>
                  <a:srgbClr val="EEF5FF"/>
                </a:solidFill>
              </a:rPr>
              <a:t>XGBoost</a:t>
            </a:r>
            <a:r>
              <a:rPr sz="1080" b="0" dirty="0">
                <a:solidFill>
                  <a:srgbClr val="EEF5FF"/>
                </a:solidFill>
              </a:rPr>
              <a:t>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77840" y="4343400"/>
            <a:ext cx="4343400" cy="960120"/>
          </a:xfrm>
          <a:prstGeom prst="roundRect">
            <a:avLst/>
          </a:prstGeom>
          <a:solidFill>
            <a:srgbClr val="102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52160" y="4590288"/>
            <a:ext cx="16002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19" b="1">
                <a:solidFill>
                  <a:srgbClr val="61E9DF"/>
                </a:solidFill>
              </a:rPr>
              <a:t>Imbalance handling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489704"/>
            <a:ext cx="2587752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80" b="0" dirty="0">
                <a:solidFill>
                  <a:srgbClr val="EEF5FF"/>
                </a:solidFill>
              </a:rPr>
              <a:t>Three-class target, rare-level grouping, stratified split, class-weight search, and focal loss for the neural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61E9DF"/>
          </a:solidFill>
          <a:ln w="12700">
            <a:solidFill>
              <a:srgbClr val="61E9D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85800" y="3931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61E9DF"/>
                </a:solidFill>
              </a:rPr>
              <a:t>MODEL PERFORMANCE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685800" y="7040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EEF5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FT-Transformer is strongest overall, but severe cases remain difficult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13232" y="13075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AAB8CF"/>
                </a:solidFill>
              </a:rPr>
              <a:t>The performance page should be read at both model level and class level.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594360" y="1755648"/>
            <a:ext cx="3703320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6350">
            <a:solidFill>
              <a:srgbClr val="C8D1DE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 descr="/mnt/data/figure1_model_performanc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828800"/>
            <a:ext cx="3444240" cy="20665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407408" y="1755648"/>
            <a:ext cx="3703320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6350">
            <a:solidFill>
              <a:srgbClr val="C8D1DE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1" descr="/mnt/data/figure2_best_model_class_perform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6948" y="1828800"/>
            <a:ext cx="3444240" cy="20665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211312" y="1755648"/>
            <a:ext cx="3383280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6350">
            <a:solidFill>
              <a:srgbClr val="C8D1DE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2" name="Image 2" descr="/mnt/data/figure4_ft_transformer_confusion_matri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0575" y="1828800"/>
            <a:ext cx="2664754" cy="206654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68680" y="4709160"/>
            <a:ext cx="10012680" cy="877824"/>
          </a:xfrm>
          <a:prstGeom prst="roundRect">
            <a:avLst>
              <a:gd name="adj" fmla="val 8333"/>
            </a:avLst>
          </a:prstGeom>
          <a:solidFill>
            <a:srgbClr val="102C43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9"/>
          <p:cNvSpPr/>
          <p:nvPr/>
        </p:nvSpPr>
        <p:spPr>
          <a:xfrm>
            <a:off x="1188720" y="49651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61E9DF"/>
                </a:solidFill>
              </a:rPr>
              <a:t>Model reading</a:t>
            </a:r>
            <a:endParaRPr lang="en-US" sz="980" dirty="0"/>
          </a:p>
        </p:txBody>
      </p:sp>
      <p:sp>
        <p:nvSpPr>
          <p:cNvPr id="15" name="Text 10"/>
          <p:cNvSpPr/>
          <p:nvPr/>
        </p:nvSpPr>
        <p:spPr>
          <a:xfrm>
            <a:off x="2651760" y="4828032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D9E5F6"/>
                </a:solidFill>
              </a:rPr>
              <a:t>Overall accuracy is about 0.725, but severe-injury F1 is only about 0.206 and severe recall is about 0.232. This is the main reason the app is presented as a decision-support prototype, not a triage tool.</a:t>
            </a:r>
            <a:endParaRPr lang="en-US" sz="1230" dirty="0"/>
          </a:p>
        </p:txBody>
      </p:sp>
      <p:sp>
        <p:nvSpPr>
          <p:cNvPr id="16" name="Text 11"/>
          <p:cNvSpPr/>
          <p:nvPr/>
        </p:nvSpPr>
        <p:spPr>
          <a:xfrm>
            <a:off x="502920" y="6547104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78AA6"/>
                </a:solidFill>
              </a:rPr>
              <a:t>INFO 442 · Traffic Accident Severity Prediction</a:t>
            </a:r>
            <a:endParaRPr lang="en-US" sz="780" dirty="0"/>
          </a:p>
        </p:txBody>
      </p:sp>
      <p:sp>
        <p:nvSpPr>
          <p:cNvPr id="17" name="Text 12"/>
          <p:cNvSpPr/>
          <p:nvPr/>
        </p:nvSpPr>
        <p:spPr>
          <a:xfrm>
            <a:off x="10881360" y="64739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850" b="1">
                <a:solidFill>
                  <a:srgbClr val="61E9DF"/>
                </a:solidFill>
              </a:rPr>
              <a:t>07 / 11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61E9DF"/>
          </a:solidFill>
          <a:ln w="12700">
            <a:solidFill>
              <a:srgbClr val="61E9D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85800" y="3931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61E9DF"/>
                </a:solidFill>
              </a:rPr>
              <a:t>PREDICTION WORKFLOW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685800" y="7040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EEF5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browser input to model-backed response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13232" y="13075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AAB8CF"/>
                </a:solidFill>
              </a:rPr>
              <a:t>The web app uses a lightweight local server with schema, status, and prediction endpoints.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2423160" y="2971800"/>
            <a:ext cx="868680" cy="0"/>
          </a:xfrm>
          <a:prstGeom prst="line">
            <a:avLst/>
          </a:prstGeom>
          <a:noFill/>
          <a:ln w="22860">
            <a:solidFill>
              <a:srgbClr val="5BA9F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074920" y="2971800"/>
            <a:ext cx="868680" cy="0"/>
          </a:xfrm>
          <a:prstGeom prst="line">
            <a:avLst/>
          </a:prstGeom>
          <a:noFill/>
          <a:ln w="22860">
            <a:solidFill>
              <a:srgbClr val="5BA9F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726680" y="2971800"/>
            <a:ext cx="868680" cy="0"/>
          </a:xfrm>
          <a:prstGeom prst="line">
            <a:avLst/>
          </a:prstGeom>
          <a:noFill/>
          <a:ln w="22860">
            <a:solidFill>
              <a:srgbClr val="5BA9F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85800" y="2157984"/>
            <a:ext cx="1920240" cy="1572768"/>
          </a:xfrm>
          <a:prstGeom prst="roundRect">
            <a:avLst>
              <a:gd name="adj" fmla="val 4651"/>
            </a:avLst>
          </a:prstGeom>
          <a:solidFill>
            <a:srgbClr val="13243B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68680" y="25786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EF5FF"/>
                </a:solidFill>
              </a:rPr>
              <a:t>Crash form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" y="29443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AAB8CF"/>
                </a:solidFill>
              </a:rPr>
              <a:t>user-selected context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3337560" y="2157984"/>
            <a:ext cx="1920240" cy="1572768"/>
          </a:xfrm>
          <a:prstGeom prst="roundRect">
            <a:avLst>
              <a:gd name="adj" fmla="val 4651"/>
            </a:avLst>
          </a:prstGeom>
          <a:solidFill>
            <a:srgbClr val="13243B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520440" y="25786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EF5FF"/>
                </a:solidFill>
              </a:rPr>
              <a:t>Local API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20440" y="29443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AAB8CF"/>
                </a:solidFill>
              </a:rPr>
              <a:t>status · schema · predict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5989320" y="2157984"/>
            <a:ext cx="1920240" cy="1572768"/>
          </a:xfrm>
          <a:prstGeom prst="roundRect">
            <a:avLst>
              <a:gd name="adj" fmla="val 4651"/>
            </a:avLst>
          </a:prstGeom>
          <a:solidFill>
            <a:srgbClr val="13243B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172200" y="25786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EF5FF"/>
                </a:solidFill>
              </a:rPr>
              <a:t>Preprocessor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172200" y="29443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AAB8CF"/>
                </a:solidFill>
              </a:rPr>
              <a:t>saved metadata + scaler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8641080" y="2157984"/>
            <a:ext cx="1920240" cy="1572768"/>
          </a:xfrm>
          <a:prstGeom prst="roundRect">
            <a:avLst>
              <a:gd name="adj" fmla="val 4651"/>
            </a:avLst>
          </a:prstGeom>
          <a:solidFill>
            <a:srgbClr val="173055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823960" y="257860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EF5FF"/>
                </a:solidFill>
              </a:rPr>
              <a:t>Response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823960" y="29443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AAB8CF"/>
                </a:solidFill>
              </a:rPr>
              <a:t>label + confidence + probabilities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868680" y="470916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102C43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188720" y="4956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61E9DF"/>
                </a:solidFill>
              </a:rPr>
              <a:t>Real-time defaults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2269067" y="4873752"/>
            <a:ext cx="29430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D9E5F6"/>
                </a:solidFill>
              </a:rPr>
              <a:t>Current hour, day, month, and optional weather data prefill fields, while manual edits are preserved.</a:t>
            </a:r>
            <a:endParaRPr lang="en-US" sz="1140" dirty="0"/>
          </a:p>
        </p:txBody>
      </p:sp>
      <p:sp>
        <p:nvSpPr>
          <p:cNvPr id="25" name="Shape 23"/>
          <p:cNvSpPr/>
          <p:nvPr/>
        </p:nvSpPr>
        <p:spPr>
          <a:xfrm>
            <a:off x="6080760" y="470916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102C43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400800" y="4956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61E9DF"/>
                </a:solidFill>
              </a:rPr>
              <a:t>Transparency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7179733" y="4892040"/>
            <a:ext cx="31529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D9E5F6"/>
                </a:solidFill>
              </a:rPr>
              <a:t>The request JSON panel lets reviewers see exactly what the model received.</a:t>
            </a:r>
            <a:endParaRPr lang="en-US" sz="1140" dirty="0"/>
          </a:p>
        </p:txBody>
      </p:sp>
      <p:sp>
        <p:nvSpPr>
          <p:cNvPr id="28" name="Text 26"/>
          <p:cNvSpPr/>
          <p:nvPr/>
        </p:nvSpPr>
        <p:spPr>
          <a:xfrm>
            <a:off x="502920" y="6547104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78AA6"/>
                </a:solidFill>
              </a:rPr>
              <a:t>INFO 442 · Traffic Accident Severity Prediction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10881360" y="64739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850" b="1">
                <a:solidFill>
                  <a:srgbClr val="61E9DF"/>
                </a:solidFill>
              </a:rPr>
              <a:t>08 / 11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61E9DF"/>
          </a:solidFill>
          <a:ln w="12700">
            <a:solidFill>
              <a:srgbClr val="61E9D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85800" y="3931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61E9DF"/>
                </a:solidFill>
              </a:rPr>
              <a:t>WEB APP DEPLOYMENT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685800" y="7040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EEF5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interface supports both prediction and presentation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13232" y="13075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AAB8CF"/>
                </a:solidFill>
              </a:rPr>
              <a:t>It combines operational inputs with model output and explanation panels.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658368" y="1783080"/>
            <a:ext cx="6995160" cy="406908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6350">
            <a:solidFill>
              <a:srgbClr val="C8D1DE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 descr="/mnt/data/web-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18458"/>
            <a:ext cx="6848856" cy="35983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973568" y="1783080"/>
            <a:ext cx="3401568" cy="4069080"/>
          </a:xfrm>
          <a:prstGeom prst="roundRect">
            <a:avLst>
              <a:gd name="adj" fmla="val 2151"/>
            </a:avLst>
          </a:prstGeom>
          <a:solidFill>
            <a:srgbClr val="12233A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293608" y="21214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1E9DF"/>
                </a:solidFill>
              </a:rPr>
              <a:t>Live demo path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302752" y="260604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61E9DF"/>
                </a:solidFill>
              </a:rPr>
              <a:t>1</a:t>
            </a:r>
            <a:endParaRPr lang="en-US" sz="1180" dirty="0"/>
          </a:p>
        </p:txBody>
      </p:sp>
      <p:sp>
        <p:nvSpPr>
          <p:cNvPr id="12" name="Text 9"/>
          <p:cNvSpPr/>
          <p:nvPr/>
        </p:nvSpPr>
        <p:spPr>
          <a:xfrm>
            <a:off x="8668512" y="261518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D9E5F6"/>
                </a:solidFill>
              </a:rPr>
              <a:t>Confirm model status</a:t>
            </a:r>
            <a:endParaRPr lang="en-US" sz="1210" dirty="0"/>
          </a:p>
        </p:txBody>
      </p:sp>
      <p:sp>
        <p:nvSpPr>
          <p:cNvPr id="13" name="Text 10"/>
          <p:cNvSpPr/>
          <p:nvPr/>
        </p:nvSpPr>
        <p:spPr>
          <a:xfrm>
            <a:off x="8302752" y="310896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61E9DF"/>
                </a:solidFill>
              </a:rPr>
              <a:t>2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8668512" y="311810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D9E5F6"/>
                </a:solidFill>
              </a:rPr>
              <a:t>Choose low-risk example</a:t>
            </a:r>
            <a:endParaRPr lang="en-US" sz="1210" dirty="0"/>
          </a:p>
        </p:txBody>
      </p:sp>
      <p:sp>
        <p:nvSpPr>
          <p:cNvPr id="15" name="Text 12"/>
          <p:cNvSpPr/>
          <p:nvPr/>
        </p:nvSpPr>
        <p:spPr>
          <a:xfrm>
            <a:off x="8302752" y="361188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61E9DF"/>
                </a:solidFill>
              </a:rPr>
              <a:t>3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8668512" y="362102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D9E5F6"/>
                </a:solidFill>
              </a:rPr>
              <a:t>Run prediction</a:t>
            </a:r>
            <a:endParaRPr lang="en-US" sz="1210" dirty="0"/>
          </a:p>
        </p:txBody>
      </p:sp>
      <p:sp>
        <p:nvSpPr>
          <p:cNvPr id="17" name="Text 14"/>
          <p:cNvSpPr/>
          <p:nvPr/>
        </p:nvSpPr>
        <p:spPr>
          <a:xfrm>
            <a:off x="8302752" y="411480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61E9DF"/>
                </a:solidFill>
              </a:rPr>
              <a:t>4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8668512" y="41239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D9E5F6"/>
                </a:solidFill>
              </a:rPr>
              <a:t>Compare high-risk example</a:t>
            </a:r>
            <a:endParaRPr lang="en-US" sz="1210" dirty="0"/>
          </a:p>
        </p:txBody>
      </p:sp>
      <p:sp>
        <p:nvSpPr>
          <p:cNvPr id="19" name="Text 16"/>
          <p:cNvSpPr/>
          <p:nvPr/>
        </p:nvSpPr>
        <p:spPr>
          <a:xfrm>
            <a:off x="8302752" y="461772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61E9DF"/>
                </a:solidFill>
              </a:rPr>
              <a:t>5</a:t>
            </a:r>
            <a:endParaRPr lang="en-US" sz="1180" dirty="0"/>
          </a:p>
        </p:txBody>
      </p:sp>
      <p:sp>
        <p:nvSpPr>
          <p:cNvPr id="20" name="Text 17"/>
          <p:cNvSpPr/>
          <p:nvPr/>
        </p:nvSpPr>
        <p:spPr>
          <a:xfrm>
            <a:off x="8668512" y="462686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D9E5F6"/>
                </a:solidFill>
              </a:rPr>
              <a:t>Show request JSON</a:t>
            </a:r>
            <a:endParaRPr lang="en-US" sz="1210" dirty="0"/>
          </a:p>
        </p:txBody>
      </p:sp>
      <p:sp>
        <p:nvSpPr>
          <p:cNvPr id="21" name="Text 18"/>
          <p:cNvSpPr/>
          <p:nvPr/>
        </p:nvSpPr>
        <p:spPr>
          <a:xfrm>
            <a:off x="8302752" y="534924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AB8CF"/>
                </a:solidFill>
              </a:rPr>
              <a:t>This slide can be followed by a short live run if the classroom timing allows.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02920" y="6547104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78AA6"/>
                </a:solidFill>
              </a:rPr>
              <a:t>INFO 442 · Traffic Accident Severity Prediction</a:t>
            </a:r>
            <a:endParaRPr lang="en-US" sz="780" dirty="0"/>
          </a:p>
        </p:txBody>
      </p:sp>
      <p:sp>
        <p:nvSpPr>
          <p:cNvPr id="23" name="Text 20"/>
          <p:cNvSpPr/>
          <p:nvPr/>
        </p:nvSpPr>
        <p:spPr>
          <a:xfrm>
            <a:off x="10881360" y="64739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850" b="1">
                <a:solidFill>
                  <a:srgbClr val="61E9DF"/>
                </a:solidFill>
              </a:rPr>
              <a:t>09 / 11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61E9DF"/>
          </a:solidFill>
          <a:ln w="12700">
            <a:solidFill>
              <a:srgbClr val="61E9D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85800" y="3931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61E9DF"/>
                </a:solidFill>
              </a:rPr>
              <a:t>RELIABILITY AND LIMITATIONS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685800" y="7040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EEF5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Robust demo behavior, cautious model claims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13232" y="13075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AAB8CF"/>
                </a:solidFill>
              </a:rPr>
              <a:t>Fallback behavior is explicit, and the model is not framed as an emergency decision system.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658368" y="1783080"/>
            <a:ext cx="58978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6350">
            <a:solidFill>
              <a:srgbClr val="C8D1DE">
                <a:alpha val="6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 descr="/mnt/data/web-E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930" y="1856232"/>
            <a:ext cx="4434756" cy="309981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903720" y="1783080"/>
            <a:ext cx="4434840" cy="3246120"/>
          </a:xfrm>
          <a:prstGeom prst="roundRect">
            <a:avLst>
              <a:gd name="adj" fmla="val 2254"/>
            </a:avLst>
          </a:prstGeom>
          <a:solidFill>
            <a:srgbClr val="12233A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7223760" y="21214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15E"/>
                </a:solidFill>
              </a:rPr>
              <a:t>Known limits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242048" y="261518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61E9DF"/>
                </a:solidFill>
              </a:rPr>
              <a:t>•</a:t>
            </a:r>
            <a:endParaRPr lang="en-US" sz="1380" dirty="0"/>
          </a:p>
        </p:txBody>
      </p:sp>
      <p:sp>
        <p:nvSpPr>
          <p:cNvPr id="12" name="Text 9"/>
          <p:cNvSpPr/>
          <p:nvPr/>
        </p:nvSpPr>
        <p:spPr>
          <a:xfrm>
            <a:off x="7488936" y="25968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9E5F6"/>
                </a:solidFill>
              </a:rPr>
              <a:t>local prototype: no auth, database, or production logging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242048" y="30540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61E9DF"/>
                </a:solidFill>
              </a:rPr>
              <a:t>•</a:t>
            </a:r>
            <a:endParaRPr lang="en-US" sz="1380" dirty="0"/>
          </a:p>
        </p:txBody>
      </p:sp>
      <p:sp>
        <p:nvSpPr>
          <p:cNvPr id="14" name="Text 11"/>
          <p:cNvSpPr/>
          <p:nvPr/>
        </p:nvSpPr>
        <p:spPr>
          <a:xfrm>
            <a:off x="7488936" y="30358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9E5F6"/>
                </a:solidFill>
              </a:rPr>
              <a:t>severe cases are rare and difficult to detect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242048" y="349300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61E9DF"/>
                </a:solidFill>
              </a:rPr>
              <a:t>•</a:t>
            </a:r>
            <a:endParaRPr lang="en-US" sz="1380" dirty="0"/>
          </a:p>
        </p:txBody>
      </p:sp>
      <p:sp>
        <p:nvSpPr>
          <p:cNvPr id="16" name="Text 13"/>
          <p:cNvSpPr/>
          <p:nvPr/>
        </p:nvSpPr>
        <p:spPr>
          <a:xfrm>
            <a:off x="7488936" y="34747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9E5F6"/>
                </a:solidFill>
              </a:rPr>
              <a:t>weather defaults depend on browser permission and API access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242048" y="39319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61E9DF"/>
                </a:solidFill>
              </a:rPr>
              <a:t>•</a:t>
            </a:r>
            <a:endParaRPr lang="en-US" sz="1380" dirty="0"/>
          </a:p>
        </p:txBody>
      </p:sp>
      <p:sp>
        <p:nvSpPr>
          <p:cNvPr id="18" name="Text 15"/>
          <p:cNvSpPr/>
          <p:nvPr/>
        </p:nvSpPr>
        <p:spPr>
          <a:xfrm>
            <a:off x="7488936" y="39136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9E5F6"/>
                </a:solidFill>
              </a:rPr>
              <a:t>new locations require retraining and validation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68680" y="5330952"/>
            <a:ext cx="10012680" cy="749808"/>
          </a:xfrm>
          <a:prstGeom prst="roundRect">
            <a:avLst>
              <a:gd name="adj" fmla="val 9756"/>
            </a:avLst>
          </a:prstGeom>
          <a:solidFill>
            <a:srgbClr val="102C43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1170432" y="555955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61E9DF"/>
                </a:solidFill>
              </a:rPr>
              <a:t>Robustness rule</a:t>
            </a:r>
            <a:endParaRPr lang="en-US" sz="980" dirty="0"/>
          </a:p>
        </p:txBody>
      </p:sp>
      <p:sp>
        <p:nvSpPr>
          <p:cNvPr id="21" name="Text 18"/>
          <p:cNvSpPr/>
          <p:nvPr/>
        </p:nvSpPr>
        <p:spPr>
          <a:xfrm>
            <a:off x="2159000" y="5504687"/>
            <a:ext cx="8229600" cy="42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D9E5F6"/>
                </a:solidFill>
              </a:rPr>
              <a:t>If model files or libraries are unavailable, the interface clearly labels demo fallback mode rather than presenting heuristic output as real model evidence.</a:t>
            </a:r>
            <a:endParaRPr lang="en-US" sz="1230" dirty="0"/>
          </a:p>
        </p:txBody>
      </p:sp>
      <p:sp>
        <p:nvSpPr>
          <p:cNvPr id="22" name="Text 19"/>
          <p:cNvSpPr/>
          <p:nvPr/>
        </p:nvSpPr>
        <p:spPr>
          <a:xfrm>
            <a:off x="502920" y="6547104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78AA6"/>
                </a:solidFill>
              </a:rPr>
              <a:t>INFO 442 · Traffic Accident Severity Prediction</a:t>
            </a:r>
            <a:endParaRPr lang="en-US" sz="780" dirty="0"/>
          </a:p>
        </p:txBody>
      </p:sp>
      <p:sp>
        <p:nvSpPr>
          <p:cNvPr id="23" name="Text 20"/>
          <p:cNvSpPr/>
          <p:nvPr/>
        </p:nvSpPr>
        <p:spPr>
          <a:xfrm>
            <a:off x="10881360" y="64739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850" b="1">
                <a:solidFill>
                  <a:srgbClr val="61E9DF"/>
                </a:solidFill>
              </a:rPr>
              <a:t>10 / 11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61E9DF"/>
          </a:solidFill>
          <a:ln w="12700">
            <a:solidFill>
              <a:srgbClr val="61E9D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85800" y="3931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61E9DF"/>
                </a:solidFill>
              </a:rPr>
              <a:t>CONCLUSION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685800" y="7040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EEF5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deployment turns the project into a testable workflow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13232" y="130759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AAB8CF"/>
                </a:solidFill>
              </a:rPr>
              <a:t>It connects data, preprocessing, modelling, prediction, EDA communication, and limitations in one prototype.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822960" y="1965960"/>
            <a:ext cx="2971800" cy="2880360"/>
          </a:xfrm>
          <a:prstGeom prst="roundRect">
            <a:avLst>
              <a:gd name="adj" fmla="val 2540"/>
            </a:avLst>
          </a:prstGeom>
          <a:solidFill>
            <a:srgbClr val="12233A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15568" y="23042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1E9DF"/>
                </a:solidFill>
              </a:rPr>
              <a:t>What works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33856" y="27614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b="1" dirty="0">
                <a:solidFill>
                  <a:srgbClr val="61E9DF"/>
                </a:solidFill>
              </a:rPr>
              <a:t>•</a:t>
            </a:r>
            <a:endParaRPr lang="en-US" sz="1410" dirty="0"/>
          </a:p>
        </p:txBody>
      </p:sp>
      <p:sp>
        <p:nvSpPr>
          <p:cNvPr id="10" name="Text 8"/>
          <p:cNvSpPr/>
          <p:nvPr/>
        </p:nvSpPr>
        <p:spPr>
          <a:xfrm>
            <a:off x="1380744" y="274320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D9E5F6"/>
                </a:solidFill>
              </a:rPr>
              <a:t>interactive crash scenario input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1133856" y="31638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b="1" dirty="0">
                <a:solidFill>
                  <a:srgbClr val="61E9DF"/>
                </a:solidFill>
              </a:rPr>
              <a:t>•</a:t>
            </a:r>
            <a:endParaRPr lang="en-US" sz="1410" dirty="0"/>
          </a:p>
        </p:txBody>
      </p:sp>
      <p:sp>
        <p:nvSpPr>
          <p:cNvPr id="12" name="Text 10"/>
          <p:cNvSpPr/>
          <p:nvPr/>
        </p:nvSpPr>
        <p:spPr>
          <a:xfrm>
            <a:off x="1380744" y="314553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D9E5F6"/>
                </a:solidFill>
              </a:rPr>
              <a:t>model-backed prediction API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1133856" y="356616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b="1" dirty="0">
                <a:solidFill>
                  <a:srgbClr val="61E9DF"/>
                </a:solidFill>
              </a:rPr>
              <a:t>•</a:t>
            </a:r>
            <a:endParaRPr lang="en-US" sz="1410" dirty="0"/>
          </a:p>
        </p:txBody>
      </p:sp>
      <p:sp>
        <p:nvSpPr>
          <p:cNvPr id="14" name="Text 12"/>
          <p:cNvSpPr/>
          <p:nvPr/>
        </p:nvSpPr>
        <p:spPr>
          <a:xfrm>
            <a:off x="1380744" y="354787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D9E5F6"/>
                </a:solidFill>
              </a:rPr>
              <a:t>probability output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1133856" y="39684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b="1" dirty="0">
                <a:solidFill>
                  <a:srgbClr val="61E9DF"/>
                </a:solidFill>
              </a:rPr>
              <a:t>•</a:t>
            </a:r>
            <a:endParaRPr lang="en-US" sz="1410" dirty="0"/>
          </a:p>
        </p:txBody>
      </p:sp>
      <p:sp>
        <p:nvSpPr>
          <p:cNvPr id="16" name="Text 14"/>
          <p:cNvSpPr/>
          <p:nvPr/>
        </p:nvSpPr>
        <p:spPr>
          <a:xfrm>
            <a:off x="1380744" y="395020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D9E5F6"/>
                </a:solidFill>
              </a:rPr>
              <a:t>embedded EDA context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4251960" y="1965960"/>
            <a:ext cx="2971800" cy="2880360"/>
          </a:xfrm>
          <a:prstGeom prst="roundRect">
            <a:avLst>
              <a:gd name="adj" fmla="val 2540"/>
            </a:avLst>
          </a:prstGeom>
          <a:solidFill>
            <a:srgbClr val="12233A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553712" y="23042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15E"/>
                </a:solidFill>
              </a:rPr>
              <a:t>Next steps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27614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b="1" dirty="0">
                <a:solidFill>
                  <a:srgbClr val="61E9DF"/>
                </a:solidFill>
              </a:rPr>
              <a:t>•</a:t>
            </a:r>
            <a:endParaRPr lang="en-US" sz="1410" dirty="0"/>
          </a:p>
        </p:txBody>
      </p:sp>
      <p:sp>
        <p:nvSpPr>
          <p:cNvPr id="20" name="Text 18"/>
          <p:cNvSpPr/>
          <p:nvPr/>
        </p:nvSpPr>
        <p:spPr>
          <a:xfrm>
            <a:off x="4818888" y="274320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D9E5F6"/>
                </a:solidFill>
              </a:rPr>
              <a:t>improve severe-class recall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4572000" y="31638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b="1" dirty="0">
                <a:solidFill>
                  <a:srgbClr val="61E9DF"/>
                </a:solidFill>
              </a:rPr>
              <a:t>•</a:t>
            </a:r>
            <a:endParaRPr lang="en-US" sz="1410" dirty="0"/>
          </a:p>
        </p:txBody>
      </p:sp>
      <p:sp>
        <p:nvSpPr>
          <p:cNvPr id="22" name="Text 20"/>
          <p:cNvSpPr/>
          <p:nvPr/>
        </p:nvSpPr>
        <p:spPr>
          <a:xfrm>
            <a:off x="4818888" y="314553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D9E5F6"/>
                </a:solidFill>
              </a:rPr>
              <a:t>calibrate predicted probabilities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4572000" y="356616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b="1" dirty="0">
                <a:solidFill>
                  <a:srgbClr val="61E9DF"/>
                </a:solidFill>
              </a:rPr>
              <a:t>•</a:t>
            </a:r>
            <a:endParaRPr lang="en-US" sz="1410" dirty="0"/>
          </a:p>
        </p:txBody>
      </p:sp>
      <p:sp>
        <p:nvSpPr>
          <p:cNvPr id="24" name="Text 22"/>
          <p:cNvSpPr/>
          <p:nvPr/>
        </p:nvSpPr>
        <p:spPr>
          <a:xfrm>
            <a:off x="4818888" y="354787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D9E5F6"/>
                </a:solidFill>
              </a:rPr>
              <a:t>add threshold analysis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4572000" y="396849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0" b="1" dirty="0">
                <a:solidFill>
                  <a:srgbClr val="61E9DF"/>
                </a:solidFill>
              </a:rPr>
              <a:t>•</a:t>
            </a:r>
            <a:endParaRPr lang="en-US" sz="1410" dirty="0"/>
          </a:p>
        </p:txBody>
      </p:sp>
      <p:sp>
        <p:nvSpPr>
          <p:cNvPr id="26" name="Text 24"/>
          <p:cNvSpPr/>
          <p:nvPr/>
        </p:nvSpPr>
        <p:spPr>
          <a:xfrm>
            <a:off x="4818888" y="395020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D9E5F6"/>
                </a:solidFill>
              </a:rPr>
              <a:t>move beyond local hosting</a:t>
            </a:r>
            <a:endParaRPr lang="en-US" sz="1180" dirty="0"/>
          </a:p>
        </p:txBody>
      </p:sp>
      <p:sp>
        <p:nvSpPr>
          <p:cNvPr id="27" name="Shape 25"/>
          <p:cNvSpPr/>
          <p:nvPr/>
        </p:nvSpPr>
        <p:spPr>
          <a:xfrm>
            <a:off x="7680960" y="1965960"/>
            <a:ext cx="2971800" cy="2880360"/>
          </a:xfrm>
          <a:prstGeom prst="roundRect">
            <a:avLst>
              <a:gd name="adj" fmla="val 2540"/>
            </a:avLst>
          </a:prstGeom>
          <a:solidFill>
            <a:srgbClr val="102C43"/>
          </a:solidFill>
          <a:ln w="9525">
            <a:solidFill>
              <a:srgbClr val="2A4467"/>
            </a:solidFill>
            <a:prstDash val="solid"/>
          </a:ln>
          <a:effectLst>
            <a:outerShdw blurRad="12700" dist="1143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7982712" y="23042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1E9DF"/>
                </a:solidFill>
              </a:rPr>
              <a:t>Final position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982712" y="2816352"/>
            <a:ext cx="224028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20" b="1" dirty="0">
                <a:solidFill>
                  <a:srgbClr val="EEF5FF"/>
                </a:solidFill>
              </a:rPr>
              <a:t>A useful prototype should make both predictions and limitations visible.</a:t>
            </a:r>
            <a:endParaRPr lang="en-US" sz="1820" dirty="0"/>
          </a:p>
        </p:txBody>
      </p:sp>
      <p:sp>
        <p:nvSpPr>
          <p:cNvPr id="30" name="Text 28"/>
          <p:cNvSpPr/>
          <p:nvPr/>
        </p:nvSpPr>
        <p:spPr>
          <a:xfrm>
            <a:off x="822960" y="562356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EEF5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you. We are ready for questions.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502920" y="6547104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78AA6"/>
                </a:solidFill>
              </a:rPr>
              <a:t>INFO 442 · Traffic Accident Severity Prediction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10881360" y="64739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850" b="1">
                <a:solidFill>
                  <a:srgbClr val="61E9DF"/>
                </a:solidFill>
              </a:rPr>
              <a:t>11 / 11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1405</Words>
  <Application>Microsoft Office PowerPoint</Application>
  <PresentationFormat>宽屏</PresentationFormat>
  <Paragraphs>210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等线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INFO 442 Data Science Projects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Traffic Accident Severity Prediction</dc:title>
  <dc:subject>Final deployment presentation</dc:subject>
  <dc:creator>Traffic Accident Severity Project Team</dc:creator>
  <cp:lastModifiedBy>刘方舟</cp:lastModifiedBy>
  <cp:revision>7</cp:revision>
  <dcterms:created xsi:type="dcterms:W3CDTF">2026-06-26T04:28:03Z</dcterms:created>
  <dcterms:modified xsi:type="dcterms:W3CDTF">2026-06-26T05:33:28Z</dcterms:modified>
</cp:coreProperties>
</file>